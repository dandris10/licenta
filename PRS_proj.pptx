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9"/>
  </p:notesMasterIdLst>
  <p:handoutMasterIdLst>
    <p:handoutMasterId r:id="rId20"/>
  </p:handoutMasterIdLst>
  <p:sldIdLst>
    <p:sldId id="410" r:id="rId5"/>
    <p:sldId id="383" r:id="rId6"/>
    <p:sldId id="391" r:id="rId7"/>
    <p:sldId id="412" r:id="rId8"/>
    <p:sldId id="413" r:id="rId9"/>
    <p:sldId id="414" r:id="rId10"/>
    <p:sldId id="415" r:id="rId11"/>
    <p:sldId id="416" r:id="rId12"/>
    <p:sldId id="417" r:id="rId13"/>
    <p:sldId id="419" r:id="rId14"/>
    <p:sldId id="420" r:id="rId15"/>
    <p:sldId id="421" r:id="rId16"/>
    <p:sldId id="408" r:id="rId17"/>
    <p:sldId id="39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95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8904-DC16-3D93-35B8-1DB582414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E0560-CB62-C60D-5D86-01117D264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FE4D9-047A-0DBE-3184-861E3CEA0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A2EBD-553B-37D0-0EC4-97ECBD03E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26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94D99-5EFB-3C85-3D80-0D3DD84C7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54593-7D28-BE2F-F051-0A85D549B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4AA9E-495C-3C02-23EB-05143DBE8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880B2-5F19-B453-C71C-36CC3011B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337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D0A9F-3327-23A7-AA46-2D18372A8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A030A-ADD4-A215-870E-41F9291A0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CF413-B0A0-D363-FE88-C9B3BAB43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86C72-57F2-3625-BD46-59CEE23BC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588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FF5E8-7524-57E0-18F8-8E06CE0E7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87465-ECBE-53B6-5540-4BB42AD7F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A9E3C-F63A-3450-7EA6-4A2DD098D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018D4-A4AB-981A-2D91-037E7F7D8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773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3922A-97BE-2275-1E6E-F7D24ED9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00C5E-5E34-8160-CD8F-A98AC5941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0E42E-E6DD-99B8-B63D-6215439E9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6D0F2-2311-CAEC-6BFC-235CE28B8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1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8669" y="308842"/>
            <a:ext cx="9153331" cy="3291840"/>
          </a:xfrm>
        </p:spPr>
        <p:txBody>
          <a:bodyPr/>
          <a:lstStyle/>
          <a:p>
            <a:r>
              <a:rPr lang="en-US" dirty="0"/>
              <a:t>U-NET CNN from scratch combined with stable diffusion models for clothing inpainting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C0DBC9-0440-59A8-E5F3-FC832ED085CE}"/>
              </a:ext>
            </a:extLst>
          </p:cNvPr>
          <p:cNvSpPr txBox="1">
            <a:spLocks/>
          </p:cNvSpPr>
          <p:nvPr/>
        </p:nvSpPr>
        <p:spPr>
          <a:xfrm>
            <a:off x="6096000" y="2435289"/>
            <a:ext cx="7996336" cy="248411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Denis Andris</a:t>
            </a:r>
          </a:p>
          <a:p>
            <a:r>
              <a:rPr lang="en-US" sz="3200" dirty="0"/>
              <a:t>4</a:t>
            </a:r>
            <a:r>
              <a:rPr lang="en-US" sz="3200" baseline="30000" dirty="0"/>
              <a:t>th</a:t>
            </a:r>
            <a:r>
              <a:rPr lang="en-US" sz="3200" dirty="0"/>
              <a:t> year student, TUCN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Datasets	</a:t>
            </a:r>
          </a:p>
          <a:p>
            <a:r>
              <a:rPr lang="en-US" dirty="0"/>
              <a:t>Architecture</a:t>
            </a:r>
          </a:p>
          <a:p>
            <a:r>
              <a:rPr lang="en-US" dirty="0"/>
              <a:t>Architecture explanation</a:t>
            </a:r>
          </a:p>
          <a:p>
            <a:r>
              <a:rPr lang="en-US" dirty="0"/>
              <a:t>Demo</a:t>
            </a:r>
          </a:p>
          <a:p>
            <a:r>
              <a:rPr lang="en-US" dirty="0"/>
              <a:t>Final project and Q&amp;A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Developed an end-to-end Virtual Try-On Pipeline that automates the detection and replacement of fashion garments in static images</a:t>
            </a:r>
          </a:p>
          <a:p>
            <a:r>
              <a:rPr lang="en-US" dirty="0"/>
              <a:t>Original components: Clothing segmentation -&gt; Based on the U-NET CNN</a:t>
            </a:r>
          </a:p>
          <a:p>
            <a:r>
              <a:rPr lang="en-US" dirty="0"/>
              <a:t>Reused components: SD-XL Inpainting 0.1 -&gt; latent text-to-image diffusion model capable of generating photo-realistic images given any text input, with the extra capability of inpainting the pictures by using a mask.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9AFA-BCD9-662A-3BC5-46625C53E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B8DDB-5852-D531-6233-9CA046371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Datasets: </a:t>
            </a:r>
            <a:r>
              <a:rPr lang="en-US" dirty="0" err="1"/>
              <a:t>DeepFashion-MultiModal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7E9A-77F0-56B0-6905-CD5E21BA79B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0863632" cy="1130365"/>
          </a:xfrm>
        </p:spPr>
        <p:txBody>
          <a:bodyPr>
            <a:normAutofit/>
          </a:bodyPr>
          <a:lstStyle/>
          <a:p>
            <a:r>
              <a:rPr lang="en-US" dirty="0" err="1"/>
              <a:t>DeepFashion-MultiModal</a:t>
            </a:r>
            <a:r>
              <a:rPr lang="en-US" dirty="0"/>
              <a:t> is a large-scale high-quality human dataset with rich multi-modal annotations.</a:t>
            </a:r>
          </a:p>
          <a:p>
            <a:r>
              <a:rPr lang="en-US" dirty="0"/>
              <a:t>It contains 44,096 high-resolution human images, including 12,701 full body human images.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 descr="A person standing next to a person&#10;&#10;AI-generated content may be incorrect.">
            <a:extLst>
              <a:ext uri="{FF2B5EF4-FFF2-40B4-BE49-F238E27FC236}">
                <a16:creationId xmlns:a16="http://schemas.microsoft.com/office/drawing/2014/main" id="{BDE20246-A7A2-1D29-42ED-9F5782E2AEC2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3970176"/>
            <a:ext cx="7558739" cy="2035945"/>
          </a:xfrm>
        </p:spPr>
      </p:pic>
    </p:spTree>
    <p:extLst>
      <p:ext uri="{BB962C8B-B14F-4D97-AF65-F5344CB8AC3E}">
        <p14:creationId xmlns:p14="http://schemas.microsoft.com/office/powerpoint/2010/main" val="515496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1662A-5EAB-8047-2EE9-066233A3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9128-B04C-CCF2-7ED8-86F92C85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Datasets: Human Parsing Labels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CC4FB-6BD4-6408-005D-D8C8D24EE4B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7558529" cy="1130365"/>
          </a:xfrm>
        </p:spPr>
        <p:txBody>
          <a:bodyPr/>
          <a:lstStyle/>
          <a:p>
            <a:r>
              <a:rPr lang="en-US" dirty="0"/>
              <a:t>Mask labels are defined as follows: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A7AA48D-F2E1-3F05-B49A-39ED912610FA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3338748" y="3429000"/>
            <a:ext cx="4814141" cy="231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568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CCCEE-BADF-F187-BB8F-6AEC3FB28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3CA20-AA0C-FD3C-8216-0B1441F6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8" name="Content Placeholder 7" descr="A diagram of a computer&#10;&#10;AI-generated content may be incorrect.">
            <a:extLst>
              <a:ext uri="{FF2B5EF4-FFF2-40B4-BE49-F238E27FC236}">
                <a16:creationId xmlns:a16="http://schemas.microsoft.com/office/drawing/2014/main" id="{69594785-447A-29C8-AD1D-B0CF340A9C85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2368421" y="2240554"/>
            <a:ext cx="7455158" cy="40284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AC150E-8014-CBFA-1398-DF15904EAA97}"/>
              </a:ext>
            </a:extLst>
          </p:cNvPr>
          <p:cNvSpPr txBox="1"/>
          <p:nvPr/>
        </p:nvSpPr>
        <p:spPr>
          <a:xfrm>
            <a:off x="8950960" y="369824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3FFCDB-08A6-C420-DF12-2DA442BF1118}"/>
              </a:ext>
            </a:extLst>
          </p:cNvPr>
          <p:cNvSpPr/>
          <p:nvPr/>
        </p:nvSpPr>
        <p:spPr>
          <a:xfrm>
            <a:off x="5103328" y="2959576"/>
            <a:ext cx="536090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---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1403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8A8B4-B62B-43DD-29D5-9649DC96F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FC2C-D436-FBD0-E4A1-EF92999D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Architecture: Backend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4D6382-F115-1BBC-169E-24795627D2A3}"/>
              </a:ext>
            </a:extLst>
          </p:cNvPr>
          <p:cNvSpPr txBox="1"/>
          <p:nvPr/>
        </p:nvSpPr>
        <p:spPr>
          <a:xfrm>
            <a:off x="8950960" y="369824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4E1564-7F68-ACC6-FBAC-6C44DBF49F50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452627" y="2504572"/>
            <a:ext cx="10856098" cy="473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39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84266-379C-C3D0-D9EF-C8084D18B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E0F78-EDDA-7BAD-3D14-858FDD22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U-NET 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5A70C9-4568-D493-88B2-0D41DC94557E}"/>
              </a:ext>
            </a:extLst>
          </p:cNvPr>
          <p:cNvSpPr txBox="1"/>
          <p:nvPr/>
        </p:nvSpPr>
        <p:spPr>
          <a:xfrm>
            <a:off x="8950960" y="369824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</a:t>
            </a:r>
          </a:p>
        </p:txBody>
      </p:sp>
      <p:sp>
        <p:nvSpPr>
          <p:cNvPr id="5" name="AutoShape 4" descr="U-Net Architecture Explained - GeeksforGeeks">
            <a:extLst>
              <a:ext uri="{FF2B5EF4-FFF2-40B4-BE49-F238E27FC236}">
                <a16:creationId xmlns:a16="http://schemas.microsoft.com/office/drawing/2014/main" id="{24F14C9F-1E19-8653-FC01-067CC7C645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U-Net Architecture Explained - GeeksforGeeks">
            <a:extLst>
              <a:ext uri="{FF2B5EF4-FFF2-40B4-BE49-F238E27FC236}">
                <a16:creationId xmlns:a16="http://schemas.microsoft.com/office/drawing/2014/main" id="{315D356E-053A-238F-75BF-8422A75F4A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1592580" cy="159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 descr="A diagram of a graph&#10;&#10;AI-generated content may be incorrect.">
            <a:extLst>
              <a:ext uri="{FF2B5EF4-FFF2-40B4-BE49-F238E27FC236}">
                <a16:creationId xmlns:a16="http://schemas.microsoft.com/office/drawing/2014/main" id="{19663648-36F0-32E9-D9A2-B4E0D28DF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057" y="2277899"/>
            <a:ext cx="8925885" cy="446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05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989CC-95B8-BDB8-2640-D34DAD9C4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Uncompleted mask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3F0C8B7-E9F3-342A-402C-C29844C6EA3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792205" y="2446953"/>
            <a:ext cx="8607589" cy="2516933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827ED20-85E6-219C-1F12-203392DA2BA0}"/>
              </a:ext>
            </a:extLst>
          </p:cNvPr>
          <p:cNvSpPr txBox="1">
            <a:spLocks/>
          </p:cNvSpPr>
          <p:nvPr/>
        </p:nvSpPr>
        <p:spPr>
          <a:xfrm>
            <a:off x="594360" y="5229711"/>
            <a:ext cx="11358154" cy="37004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Small dataset -&gt; Unable to learn all patterns</a:t>
            </a:r>
          </a:p>
          <a:p>
            <a:r>
              <a:rPr lang="en-US" dirty="0"/>
              <a:t>Weak PC -&gt; Cannot work with higher resolutions or more epochs</a:t>
            </a:r>
          </a:p>
        </p:txBody>
      </p:sp>
    </p:spTree>
    <p:extLst>
      <p:ext uri="{BB962C8B-B14F-4D97-AF65-F5344CB8AC3E}">
        <p14:creationId xmlns:p14="http://schemas.microsoft.com/office/powerpoint/2010/main" val="2419478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D4BD-3623-670C-A47A-59CB64A26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CBCC7-4DDA-910B-D4C9-829B5674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anchor="b">
            <a:normAutofit/>
          </a:bodyPr>
          <a:lstStyle/>
          <a:p>
            <a:r>
              <a:rPr lang="en-US" dirty="0"/>
              <a:t>Solution</a:t>
            </a:r>
            <a:r>
              <a:rPr lang="en-US"/>
              <a:t>: KNN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850CFE-403A-3AAD-24C8-6D2C5139F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2394781"/>
            <a:ext cx="7810500" cy="3417095"/>
          </a:xfrm>
          <a:prstGeom prst="rect">
            <a:avLst/>
          </a:prstGeom>
          <a:noFill/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4E490AA-FE95-3CDD-86FA-FE89AC6FD7CA}"/>
              </a:ext>
            </a:extLst>
          </p:cNvPr>
          <p:cNvSpPr txBox="1">
            <a:spLocks/>
          </p:cNvSpPr>
          <p:nvPr/>
        </p:nvSpPr>
        <p:spPr>
          <a:xfrm>
            <a:off x="594360" y="5229711"/>
            <a:ext cx="11358154" cy="37004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30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84AA-4498-F85F-E28E-966D9C62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95AFE6-20F6-2E68-6765-F594F4452DE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512" y="2364597"/>
            <a:ext cx="2066168" cy="369887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2AC9F6-5F51-237E-9CC6-89FA7D2BE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873" y="2146084"/>
            <a:ext cx="2236532" cy="39827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B63419-79B0-DD2D-2459-8400CC11D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267" y="1142075"/>
            <a:ext cx="5189670" cy="51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13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42B5-D53D-C9AF-5C5B-1E5665750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anchor="b">
            <a:normAutofit/>
          </a:bodyPr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5EAF2-8406-0F83-6E38-44BC1D3E69B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3279579"/>
            <a:ext cx="5044440" cy="2994415"/>
          </a:xfrm>
        </p:spPr>
        <p:txBody>
          <a:bodyPr>
            <a:normAutofit/>
          </a:bodyPr>
          <a:lstStyle/>
          <a:p>
            <a:r>
              <a:rPr lang="en-US" dirty="0" err="1"/>
              <a:t>img_path</a:t>
            </a:r>
            <a:r>
              <a:rPr lang="en-US" dirty="0"/>
              <a:t> = "</a:t>
            </a:r>
            <a:r>
              <a:rPr lang="en-US" dirty="0" err="1"/>
              <a:t>output_masks</a:t>
            </a:r>
            <a:r>
              <a:rPr lang="en-US" dirty="0"/>
              <a:t>/unnamed/original_image.jpg"</a:t>
            </a:r>
          </a:p>
          <a:p>
            <a:r>
              <a:rPr lang="en-US" dirty="0" err="1"/>
              <a:t>mask_path</a:t>
            </a:r>
            <a:r>
              <a:rPr lang="en-US" dirty="0"/>
              <a:t> = "</a:t>
            </a:r>
            <a:r>
              <a:rPr lang="en-US" dirty="0" err="1"/>
              <a:t>output_masks</a:t>
            </a:r>
            <a:r>
              <a:rPr lang="en-US" dirty="0"/>
              <a:t>/unnamed/pants_mask.png"</a:t>
            </a:r>
          </a:p>
          <a:p>
            <a:r>
              <a:rPr lang="en-US" dirty="0"/>
              <a:t>prompt = "simple green jeans, high quality, made of cotton"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89946-B174-DFA1-CD4D-696F7B5F5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4" r="5643"/>
          <a:stretch>
            <a:fillRect/>
          </a:stretch>
        </p:blipFill>
        <p:spPr>
          <a:xfrm>
            <a:off x="6096000" y="10"/>
            <a:ext cx="6118225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427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Final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/>
          <a:lstStyle/>
          <a:p>
            <a:r>
              <a:rPr lang="en-US" dirty="0"/>
              <a:t>Drawbacks</a:t>
            </a:r>
          </a:p>
          <a:p>
            <a:pPr lvl="1"/>
            <a:r>
              <a:rPr lang="en-US" dirty="0"/>
              <a:t>Small database -&gt; maybe change it</a:t>
            </a:r>
          </a:p>
          <a:p>
            <a:pPr lvl="1"/>
            <a:r>
              <a:rPr lang="en-US" dirty="0"/>
              <a:t>I am not patient -&gt; I do not like to wait for the model to train</a:t>
            </a:r>
          </a:p>
          <a:p>
            <a:pPr lvl="1"/>
            <a:r>
              <a:rPr lang="en-US" dirty="0"/>
              <a:t>The model cannot learn hard patterns( </a:t>
            </a:r>
            <a:r>
              <a:rPr lang="en-US" dirty="0" err="1"/>
              <a:t>eg</a:t>
            </a:r>
            <a:r>
              <a:rPr lang="en-US" dirty="0"/>
              <a:t>: floral dresses) and only likes simple, white background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/>
          <a:lstStyle/>
          <a:p>
            <a:r>
              <a:rPr lang="en-US" dirty="0"/>
              <a:t>Future improvements:</a:t>
            </a:r>
          </a:p>
          <a:p>
            <a:pPr lvl="1"/>
            <a:r>
              <a:rPr lang="en-US" dirty="0"/>
              <a:t>Graphs with loss and accuracy for better visualization of the results</a:t>
            </a:r>
          </a:p>
          <a:p>
            <a:pPr lvl="1"/>
            <a:r>
              <a:rPr lang="en-US" dirty="0"/>
              <a:t>React interface for user experience</a:t>
            </a:r>
          </a:p>
          <a:p>
            <a:pPr lvl="1"/>
            <a:r>
              <a:rPr lang="en-US" dirty="0"/>
              <a:t>Exploring another stable diffusion models, if I can train it on a better PC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122F6A-5D77-7B1E-E74C-775783540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570" y="5853870"/>
            <a:ext cx="9464860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1a97bc-cb5c-4215-a213-9601255787a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E29CC4B1711C44897CE31227EB7480" ma:contentTypeVersion="13" ma:contentTypeDescription="Create a new document." ma:contentTypeScope="" ma:versionID="2a91255700972c268d6e9fb5443e67db">
  <xsd:schema xmlns:xsd="http://www.w3.org/2001/XMLSchema" xmlns:xs="http://www.w3.org/2001/XMLSchema" xmlns:p="http://schemas.microsoft.com/office/2006/metadata/properties" xmlns:ns3="5f1a97bc-cb5c-4215-a213-9601255787aa" xmlns:ns4="72e0da0d-2219-4f31-98a5-0ff1578319fa" targetNamespace="http://schemas.microsoft.com/office/2006/metadata/properties" ma:root="true" ma:fieldsID="184ffe6911b9b3a3e94e224a7da3b5d8" ns3:_="" ns4:_="">
    <xsd:import namespace="5f1a97bc-cb5c-4215-a213-9601255787aa"/>
    <xsd:import namespace="72e0da0d-2219-4f31-98a5-0ff1578319f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1a97bc-cb5c-4215-a213-9601255787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e0da0d-2219-4f31-98a5-0ff1578319f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5f1a97bc-cb5c-4215-a213-9601255787aa"/>
    <ds:schemaRef ds:uri="http://purl.org/dc/elements/1.1/"/>
    <ds:schemaRef ds:uri="http://www.w3.org/XML/1998/namespace"/>
    <ds:schemaRef ds:uri="http://purl.org/dc/terms/"/>
    <ds:schemaRef ds:uri="http://schemas.openxmlformats.org/package/2006/metadata/core-properties"/>
    <ds:schemaRef ds:uri="72e0da0d-2219-4f31-98a5-0ff1578319fa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529D66-C782-40B6-AD5E-3480F8A90D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1a97bc-cb5c-4215-a213-9601255787aa"/>
    <ds:schemaRef ds:uri="72e0da0d-2219-4f31-98a5-0ff1578319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{705D6468-2D72-4F47-A96F-5E8EAD92942A}TFd3b75063-ff25-434d-b12c-efeaf07d16c3292f62b5_win32-75a75c970d8e</Template>
  <TotalTime>541</TotalTime>
  <Words>312</Words>
  <Application>Microsoft Office PowerPoint</Application>
  <PresentationFormat>Widescreen</PresentationFormat>
  <Paragraphs>55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Franklin Gothic Book</vt:lpstr>
      <vt:lpstr>Franklin Gothic Demi</vt:lpstr>
      <vt:lpstr>Custom</vt:lpstr>
      <vt:lpstr>U-NET CNN from scratch combined with stable diffusion models for clothing inpainting</vt:lpstr>
      <vt:lpstr>Agenda</vt:lpstr>
      <vt:lpstr>Introduction</vt:lpstr>
      <vt:lpstr>Datasets: DeepFashion-MultiModal</vt:lpstr>
      <vt:lpstr>Datasets: Human Parsing Labels</vt:lpstr>
      <vt:lpstr>Architecture</vt:lpstr>
      <vt:lpstr>Architecture: Backend</vt:lpstr>
      <vt:lpstr>U-NET Architecture</vt:lpstr>
      <vt:lpstr>Uncompleted mask</vt:lpstr>
      <vt:lpstr>Solution: KNN</vt:lpstr>
      <vt:lpstr>Demo</vt:lpstr>
      <vt:lpstr>Demo</vt:lpstr>
      <vt:lpstr>Final projects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 Adrian Andris</dc:creator>
  <cp:lastModifiedBy>Denis Adrian Andris</cp:lastModifiedBy>
  <cp:revision>13</cp:revision>
  <dcterms:created xsi:type="dcterms:W3CDTF">2026-01-12T07:12:56Z</dcterms:created>
  <dcterms:modified xsi:type="dcterms:W3CDTF">2026-01-14T20:18:32Z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0x010100B0E29CC4B1711C44897CE31227EB7480</vt:lpwstr>
  </property>
  <property fmtid="{D5CDD505-2E9C-101B-9397-08002B2CF9AE}" pid="3" name="MSIP_Label_5b58b62f-6f94-46bd-8089-18e64b0a9abb_Enabled">
    <vt:lpwstr>true</vt:lpwstr>
  </property>
  <property fmtid="{D5CDD505-2E9C-101B-9397-08002B2CF9AE}" pid="4" name="MSIP_Label_5b58b62f-6f94-46bd-8089-18e64b0a9abb_SetDate">
    <vt:lpwstr>2026-01-12T07:15:56Z</vt:lpwstr>
  </property>
  <property fmtid="{D5CDD505-2E9C-101B-9397-08002B2CF9AE}" pid="5" name="MSIP_Label_5b58b62f-6f94-46bd-8089-18e64b0a9abb_Method">
    <vt:lpwstr>Standard</vt:lpwstr>
  </property>
  <property fmtid="{D5CDD505-2E9C-101B-9397-08002B2CF9AE}" pid="6" name="MSIP_Label_5b58b62f-6f94-46bd-8089-18e64b0a9abb_Name">
    <vt:lpwstr>defa4170-0d19-0005-0004-bc88714345d2</vt:lpwstr>
  </property>
  <property fmtid="{D5CDD505-2E9C-101B-9397-08002B2CF9AE}" pid="7" name="MSIP_Label_5b58b62f-6f94-46bd-8089-18e64b0a9abb_SiteId">
    <vt:lpwstr>a6eb79fa-c4a9-4cce-818d-b85274d15305</vt:lpwstr>
  </property>
  <property fmtid="{D5CDD505-2E9C-101B-9397-08002B2CF9AE}" pid="8" name="MSIP_Label_5b58b62f-6f94-46bd-8089-18e64b0a9abb_ActionId">
    <vt:lpwstr>2c9b3e2f-c373-485d-9117-4d4150554505</vt:lpwstr>
  </property>
  <property fmtid="{D5CDD505-2E9C-101B-9397-08002B2CF9AE}" pid="9" name="MSIP_Label_5b58b62f-6f94-46bd-8089-18e64b0a9abb_ContentBits">
    <vt:lpwstr>0</vt:lpwstr>
  </property>
  <property fmtid="{D5CDD505-2E9C-101B-9397-08002B2CF9AE}" pid="10" name="MSIP_Label_5b58b62f-6f94-46bd-8089-18e64b0a9abb_Tag">
    <vt:lpwstr>10, 3, 0, 1</vt:lpwstr>
  </property>
</Properties>
</file>